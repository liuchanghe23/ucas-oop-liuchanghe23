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5" r:id="rId4"/>
    <p:sldId id="260" r:id="rId5"/>
    <p:sldId id="269" r:id="rId6"/>
    <p:sldId id="271" r:id="rId7"/>
    <p:sldId id="270" r:id="rId8"/>
    <p:sldId id="273" r:id="rId9"/>
    <p:sldId id="272" r:id="rId10"/>
    <p:sldId id="27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p>
            <a:r>
              <a:rPr lang="zh-CN" altLang="en-US"/>
              <a:t>面向对象</a:t>
            </a:r>
            <a:r>
              <a:rPr lang="zh-CN" altLang="en-US"/>
              <a:t>中期汇报</a:t>
            </a:r>
            <a:br>
              <a:rPr lang="zh-CN" altLang="en-US"/>
            </a:br>
            <a:r>
              <a:rPr lang="zh-CN" altLang="en-US" sz="3555"/>
              <a:t>混沌工程</a:t>
            </a:r>
            <a:r>
              <a:rPr lang="en-US" altLang="zh-CN" sz="3555"/>
              <a:t>——</a:t>
            </a:r>
            <a:r>
              <a:rPr lang="zh-CN" altLang="en-US" sz="3555"/>
              <a:t>基于异构系统的缺陷迁移</a:t>
            </a:r>
            <a:endParaRPr lang="zh-CN" altLang="en-US" sz="3555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刘昌赫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316865"/>
            <a:ext cx="7258050" cy="37242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83660"/>
            <a:ext cx="7235190" cy="21291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项目</a:t>
            </a:r>
            <a:r>
              <a:rPr lang="zh-CN" altLang="en-US"/>
              <a:t>概况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0" y="1572895"/>
            <a:ext cx="11014075" cy="53232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>
                <a:sym typeface="+mn-ea"/>
              </a:rPr>
              <a:t>关键对象：</a:t>
            </a:r>
            <a:endParaRPr lang="zh-CN" altLang="en-US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400">
                <a:sym typeface="+mn-ea"/>
              </a:rPr>
              <a:t>混沌工程平台（</a:t>
            </a:r>
            <a:r>
              <a:rPr lang="en-US" altLang="zh-CN" sz="2400">
                <a:sym typeface="+mn-ea"/>
              </a:rPr>
              <a:t>chaosblade-space-exploration</a:t>
            </a:r>
            <a:r>
              <a:rPr lang="zh-CN" altLang="en-US" sz="2400">
                <a:sym typeface="+mn-ea"/>
              </a:rPr>
              <a:t>）</a:t>
            </a:r>
            <a:endParaRPr lang="zh-CN" altLang="en-US" sz="2400"/>
          </a:p>
          <a:p>
            <a:pPr marL="457200" lvl="1" indent="0">
              <a:buNone/>
            </a:pPr>
            <a:r>
              <a:rPr lang="zh-CN" altLang="en-US" sz="2400" b="1">
                <a:sym typeface="+mn-ea"/>
              </a:rPr>
              <a:t>已有功能：</a:t>
            </a:r>
            <a:endParaRPr lang="zh-CN" altLang="en-US" sz="2400"/>
          </a:p>
          <a:p>
            <a:pPr marL="457200" lvl="1" indent="0">
              <a:buNone/>
            </a:pPr>
            <a:r>
              <a:rPr lang="en-US" altLang="zh-CN" sz="2400">
                <a:sym typeface="+mn-ea"/>
              </a:rPr>
              <a:t>1.</a:t>
            </a:r>
            <a:r>
              <a:rPr lang="zh-CN" altLang="en-US" sz="2400">
                <a:sym typeface="+mn-ea"/>
              </a:rPr>
              <a:t>（</a:t>
            </a:r>
            <a:r>
              <a:rPr lang="en-US" altLang="zh-CN" sz="2400">
                <a:sym typeface="+mn-ea"/>
              </a:rPr>
              <a:t>svc-topo</a:t>
            </a:r>
            <a:r>
              <a:rPr lang="zh-CN" altLang="en-US" sz="2400">
                <a:sym typeface="+mn-ea"/>
              </a:rPr>
              <a:t>）分析待测系统有哪些服务，谁调用谁，形成拓扑网络</a:t>
            </a:r>
            <a:endParaRPr lang="en-US" altLang="zh-CN" sz="2400"/>
          </a:p>
          <a:p>
            <a:pPr marL="457200" lvl="1" indent="0">
              <a:buNone/>
            </a:pPr>
            <a:r>
              <a:rPr lang="en-US" altLang="zh-CN" sz="2400">
                <a:sym typeface="+mn-ea"/>
              </a:rPr>
              <a:t>2.</a:t>
            </a:r>
            <a:r>
              <a:rPr lang="zh-CN" altLang="en-US" sz="2400">
                <a:sym typeface="+mn-ea"/>
              </a:rPr>
              <a:t>（</a:t>
            </a:r>
            <a:r>
              <a:rPr lang="en-US" altLang="zh-CN" sz="2400">
                <a:sym typeface="+mn-ea"/>
              </a:rPr>
              <a:t>svc-fault-scheduler</a:t>
            </a:r>
            <a:r>
              <a:rPr lang="zh-CN" altLang="en-US" sz="2400">
                <a:sym typeface="+mn-ea"/>
              </a:rPr>
              <a:t>）接收</a:t>
            </a:r>
            <a:r>
              <a:rPr lang="en-US" altLang="zh-CN" sz="2400">
                <a:sym typeface="+mn-ea"/>
              </a:rPr>
              <a:t>ChaosBlade</a:t>
            </a:r>
            <a:r>
              <a:rPr lang="zh-CN" altLang="en-US" sz="2400">
                <a:sym typeface="+mn-ea"/>
              </a:rPr>
              <a:t>配置，通过</a:t>
            </a:r>
            <a:r>
              <a:rPr lang="en-US" altLang="zh-CN" sz="2400">
                <a:sym typeface="+mn-ea"/>
              </a:rPr>
              <a:t>K8s</a:t>
            </a:r>
            <a:r>
              <a:rPr lang="zh-CN" altLang="en-US" sz="2400">
                <a:sym typeface="+mn-ea"/>
              </a:rPr>
              <a:t>注入故障，检查状态</a:t>
            </a:r>
            <a:endParaRPr lang="zh-CN" altLang="en-US" sz="2400"/>
          </a:p>
          <a:p>
            <a:pPr marL="457200" lvl="1" indent="0">
              <a:buNone/>
            </a:pPr>
            <a:endParaRPr lang="zh-CN" altLang="en-US" sz="2400"/>
          </a:p>
          <a:p>
            <a:pPr marL="457200" lvl="1" indent="0">
              <a:buNone/>
            </a:pPr>
            <a:r>
              <a:rPr lang="zh-CN" altLang="en-US" sz="2400" b="1">
                <a:sym typeface="+mn-ea"/>
              </a:rPr>
              <a:t>空壳功能：</a:t>
            </a:r>
            <a:endParaRPr lang="zh-CN" altLang="en-US" sz="2400"/>
          </a:p>
          <a:p>
            <a:pPr marL="457200" lvl="1" indent="0">
              <a:buNone/>
            </a:pPr>
            <a:r>
              <a:rPr lang="en-US" altLang="zh-CN" sz="2400">
                <a:sym typeface="+mn-ea"/>
              </a:rPr>
              <a:t>1.</a:t>
            </a:r>
            <a:r>
              <a:rPr lang="zh-CN" altLang="en-US" sz="2400">
                <a:sym typeface="+mn-ea"/>
              </a:rPr>
              <a:t>（</a:t>
            </a:r>
            <a:r>
              <a:rPr lang="en-US" altLang="zh-CN" sz="2400">
                <a:sym typeface="+mn-ea"/>
              </a:rPr>
              <a:t>svc-task-resource</a:t>
            </a:r>
            <a:r>
              <a:rPr lang="zh-CN" altLang="en-US" sz="2400">
                <a:sym typeface="+mn-ea"/>
              </a:rPr>
              <a:t>）故障类型字典，内容未填充</a:t>
            </a:r>
            <a:endParaRPr lang="en-US" altLang="zh-CN" sz="2400"/>
          </a:p>
          <a:p>
            <a:pPr marL="457200" lvl="1" indent="0">
              <a:buNone/>
            </a:pPr>
            <a:r>
              <a:rPr lang="en-US" altLang="zh-CN" sz="2400">
                <a:sym typeface="+mn-ea"/>
              </a:rPr>
              <a:t>2.</a:t>
            </a:r>
            <a:r>
              <a:rPr lang="zh-CN" altLang="en-US" sz="2400">
                <a:sym typeface="+mn-ea"/>
              </a:rPr>
              <a:t>（</a:t>
            </a:r>
            <a:r>
              <a:rPr lang="en-US" altLang="zh-CN" sz="2400">
                <a:sym typeface="+mn-ea"/>
              </a:rPr>
              <a:t>svc-result-processor</a:t>
            </a:r>
            <a:r>
              <a:rPr lang="zh-CN" altLang="en-US" sz="2400">
                <a:sym typeface="+mn-ea"/>
              </a:rPr>
              <a:t>）结论判断逻辑，目前只有</a:t>
            </a:r>
            <a:r>
              <a:rPr lang="en-US" altLang="zh-CN" sz="2400">
                <a:sym typeface="+mn-ea"/>
              </a:rPr>
              <a:t>/hello</a:t>
            </a:r>
            <a:endParaRPr lang="en-US" altLang="zh-CN" sz="2400"/>
          </a:p>
          <a:p>
            <a:pPr marL="457200" lvl="1" indent="0">
              <a:buNone/>
            </a:pPr>
            <a:endParaRPr lang="en-US" altLang="zh-CN" sz="2400"/>
          </a:p>
          <a:p>
            <a:pPr marL="457200" lvl="1" indent="0">
              <a:buNone/>
            </a:pPr>
            <a:r>
              <a:rPr lang="zh-CN" altLang="en-US" sz="2400" b="1">
                <a:sym typeface="+mn-ea"/>
              </a:rPr>
              <a:t>待实现功能：</a:t>
            </a:r>
            <a:endParaRPr lang="zh-CN" altLang="en-US" sz="2400"/>
          </a:p>
          <a:p>
            <a:pPr marL="457200" lvl="1" indent="0">
              <a:buNone/>
            </a:pPr>
            <a:r>
              <a:rPr lang="en-US" altLang="zh-CN" sz="2400">
                <a:sym typeface="+mn-ea"/>
              </a:rPr>
              <a:t>1.</a:t>
            </a:r>
            <a:r>
              <a:rPr lang="zh-CN" altLang="en-US" sz="2400">
                <a:sym typeface="+mn-ea"/>
              </a:rPr>
              <a:t>接收缺陷模板</a:t>
            </a:r>
            <a:endParaRPr lang="zh-CN" altLang="en-US" sz="2400"/>
          </a:p>
          <a:p>
            <a:pPr marL="457200" lvl="1" indent="0">
              <a:buNone/>
            </a:pPr>
            <a:r>
              <a:rPr lang="en-US" altLang="zh-CN" sz="2400">
                <a:sym typeface="+mn-ea"/>
              </a:rPr>
              <a:t>2.</a:t>
            </a:r>
            <a:r>
              <a:rPr lang="zh-CN" altLang="en-US" sz="2400">
                <a:sym typeface="+mn-ea"/>
              </a:rPr>
              <a:t>缺陷模板</a:t>
            </a:r>
            <a:r>
              <a:rPr lang="en-US" altLang="zh-CN" sz="2400">
                <a:sym typeface="+mn-ea"/>
              </a:rPr>
              <a:t>-&gt;</a:t>
            </a:r>
            <a:r>
              <a:rPr lang="zh-CN" altLang="en-US" sz="2400">
                <a:sym typeface="+mn-ea"/>
              </a:rPr>
              <a:t>待测系统画像的映射</a:t>
            </a:r>
            <a:endParaRPr lang="zh-CN" altLang="en-US" sz="2400"/>
          </a:p>
          <a:p>
            <a:pPr marL="457200" lvl="1" indent="0">
              <a:buNone/>
            </a:pPr>
            <a:r>
              <a:rPr lang="en-US" altLang="zh-CN" sz="2400">
                <a:sym typeface="+mn-ea"/>
              </a:rPr>
              <a:t>3.</a:t>
            </a:r>
            <a:r>
              <a:rPr lang="zh-CN" altLang="en-US" sz="2400">
                <a:sym typeface="+mn-ea"/>
              </a:rPr>
              <a:t>待测系统故障</a:t>
            </a:r>
            <a:r>
              <a:rPr lang="en-US" altLang="zh-CN" sz="2400">
                <a:sym typeface="+mn-ea"/>
              </a:rPr>
              <a:t>-&gt;ChaosBlade</a:t>
            </a:r>
            <a:r>
              <a:rPr lang="zh-CN" altLang="en-US" sz="2400">
                <a:sym typeface="+mn-ea"/>
              </a:rPr>
              <a:t>实验配置</a:t>
            </a:r>
            <a:endParaRPr lang="zh-CN" altLang="en-US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项目</a:t>
            </a:r>
            <a:r>
              <a:rPr lang="zh-CN" altLang="en-US"/>
              <a:t>概况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0" y="1572895"/>
            <a:ext cx="11014075" cy="42157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>
                <a:sym typeface="+mn-ea"/>
              </a:rPr>
              <a:t>关键对象：</a:t>
            </a:r>
            <a:endParaRPr lang="zh-CN" altLang="en-US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400">
                <a:sym typeface="+mn-ea"/>
              </a:rPr>
              <a:t>待测系统（</a:t>
            </a:r>
            <a:r>
              <a:rPr lang="en-US" altLang="zh-CN" sz="2400">
                <a:sym typeface="+mn-ea"/>
              </a:rPr>
              <a:t>opentelemetry-demo</a:t>
            </a:r>
            <a:r>
              <a:rPr lang="zh-CN" altLang="en-US" sz="2400">
                <a:sym typeface="+mn-ea"/>
              </a:rPr>
              <a:t>）</a:t>
            </a:r>
            <a:endParaRPr lang="zh-CN" altLang="en-US" sz="2400"/>
          </a:p>
          <a:p>
            <a:pPr marL="457200" lvl="1" indent="0">
              <a:buNone/>
            </a:pPr>
            <a:r>
              <a:rPr lang="zh-CN" altLang="en-US" sz="2400">
                <a:sym typeface="+mn-ea"/>
              </a:rPr>
              <a:t>一个简易网上购物平台，包含前端、商品、资金管理、广告等部分。</a:t>
            </a:r>
            <a:endParaRPr lang="zh-CN" altLang="en-US" sz="2400">
              <a:sym typeface="+mn-ea"/>
            </a:endParaRPr>
          </a:p>
          <a:p>
            <a:pPr marL="457200" lvl="1" indent="0">
              <a:buNone/>
            </a:pPr>
            <a:r>
              <a:rPr lang="zh-CN" altLang="en-US" sz="2400"/>
              <a:t>待测系统中有多个缺陷开关，打开后可以直接引入某类缺陷（加购服务概率失败，邮件服务制造</a:t>
            </a:r>
            <a:r>
              <a:rPr lang="zh-CN" altLang="en-US" sz="2400"/>
              <a:t>垃圾数据）</a:t>
            </a:r>
            <a:endParaRPr lang="zh-CN" altLang="en-US" sz="2400"/>
          </a:p>
          <a:p>
            <a:pPr marL="457200" lvl="1" indent="0">
              <a:buNone/>
            </a:pPr>
            <a:endParaRPr lang="zh-CN" altLang="en-US" sz="2400"/>
          </a:p>
          <a:p>
            <a:pPr marL="457200" lvl="1" indent="0">
              <a:buNone/>
            </a:pPr>
            <a:r>
              <a:rPr lang="zh-CN" altLang="en-US" sz="2400"/>
              <a:t>与</a:t>
            </a:r>
            <a:r>
              <a:rPr lang="zh-CN" altLang="en-US" sz="2400"/>
              <a:t>混沌工程平台的</a:t>
            </a:r>
            <a:r>
              <a:rPr lang="zh-CN" altLang="en-US" sz="2400"/>
              <a:t>关系：</a:t>
            </a:r>
            <a:endParaRPr lang="zh-CN" altLang="en-US" sz="2400"/>
          </a:p>
          <a:p>
            <a:pPr marL="457200" lvl="1" indent="0">
              <a:buNone/>
            </a:pPr>
            <a:r>
              <a:rPr lang="zh-CN" altLang="en-US" sz="2400">
                <a:sym typeface="+mn-ea"/>
              </a:rPr>
              <a:t>混沌工程系统分析其</a:t>
            </a:r>
            <a:r>
              <a:rPr lang="zh-CN" altLang="en-US" sz="2400">
                <a:sym typeface="+mn-ea"/>
              </a:rPr>
              <a:t>系统画像，结合缺陷模板生成故障注入实验，判断待测系统是否存在某种缺陷。</a:t>
            </a:r>
            <a:endParaRPr lang="zh-CN" altLang="en-US" sz="2400">
              <a:sym typeface="+mn-ea"/>
            </a:endParaRPr>
          </a:p>
          <a:p>
            <a:pPr marL="457200" lvl="1" indent="0">
              <a:buNone/>
            </a:pPr>
            <a:r>
              <a:rPr lang="zh-CN" altLang="en-US" sz="2400">
                <a:sym typeface="+mn-ea"/>
              </a:rPr>
              <a:t>待测系统可以通过缺陷开关引入某种缺陷，检测混沌工程系统是否有判断待测系统是否有某种缺陷的</a:t>
            </a:r>
            <a:r>
              <a:rPr lang="zh-CN" altLang="en-US" sz="2400">
                <a:sym typeface="+mn-ea"/>
              </a:rPr>
              <a:t>能力。</a:t>
            </a:r>
            <a:endParaRPr lang="zh-CN" altLang="en-US" sz="2400"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项目</a:t>
            </a:r>
            <a:r>
              <a:rPr lang="zh-CN" altLang="en-US"/>
              <a:t>概况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0" y="1572895"/>
            <a:ext cx="11014075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>
                <a:sym typeface="+mn-ea"/>
              </a:rPr>
              <a:t>关键对象：</a:t>
            </a:r>
            <a:endParaRPr lang="zh-CN" altLang="en-US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400">
                <a:sym typeface="+mn-ea"/>
              </a:rPr>
              <a:t>系统画像（</a:t>
            </a:r>
            <a:r>
              <a:rPr lang="en-US" altLang="zh-CN" sz="2400">
                <a:sym typeface="+mn-ea"/>
              </a:rPr>
              <a:t>systemprofile</a:t>
            </a:r>
            <a:r>
              <a:rPr lang="zh-CN" altLang="en-US" sz="2400">
                <a:sym typeface="+mn-ea"/>
              </a:rPr>
              <a:t>）</a:t>
            </a:r>
            <a:endParaRPr lang="zh-CN" altLang="en-US" sz="2400"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457200" lvl="1" indent="0">
              <a:buNone/>
            </a:pPr>
            <a:r>
              <a:rPr lang="zh-CN" altLang="en-US" sz="2400"/>
              <a:t>拓扑信息</a:t>
            </a:r>
            <a:r>
              <a:rPr lang="en-US" altLang="zh-CN" sz="2400"/>
              <a:t>+</a:t>
            </a:r>
            <a:r>
              <a:rPr lang="zh-CN" altLang="en-US" sz="2400"/>
              <a:t>配置</a:t>
            </a:r>
            <a:r>
              <a:rPr lang="en-US" altLang="zh-CN" sz="2400"/>
              <a:t>+</a:t>
            </a:r>
            <a:r>
              <a:rPr lang="zh-CN" altLang="en-US" sz="2400"/>
              <a:t>代码。</a:t>
            </a:r>
            <a:endParaRPr lang="zh-CN" altLang="en-US" sz="2400"/>
          </a:p>
          <a:p>
            <a:pPr marL="457200" lvl="1" indent="0">
              <a:buNone/>
            </a:pPr>
            <a:endParaRPr lang="zh-CN" altLang="en-US" sz="2400"/>
          </a:p>
          <a:p>
            <a:pPr marL="457200" lvl="1" indent="0">
              <a:buNone/>
            </a:pPr>
            <a:r>
              <a:rPr lang="zh-CN" altLang="en-US" sz="2400"/>
              <a:t>当前混沌工程平台可以分析得到待测系统的服务调用关系，但是不知道服务的具体参数（缓存容量、端口数、超时设置</a:t>
            </a:r>
            <a:r>
              <a:rPr lang="zh-CN" altLang="en-US" sz="2400"/>
              <a:t>等）。</a:t>
            </a:r>
            <a:endParaRPr lang="zh-CN" altLang="en-US" sz="2400"/>
          </a:p>
          <a:p>
            <a:pPr marL="457200" lvl="1" indent="0">
              <a:buNone/>
            </a:pPr>
            <a:endParaRPr lang="zh-CN" altLang="en-US" sz="2400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项目</a:t>
            </a:r>
            <a:r>
              <a:rPr lang="zh-CN" altLang="en-US"/>
              <a:t>概况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0" y="1572895"/>
            <a:ext cx="11014075" cy="23685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>
                <a:sym typeface="+mn-ea"/>
              </a:rPr>
              <a:t>关键对象：</a:t>
            </a:r>
            <a:endParaRPr lang="zh-CN" altLang="en-US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400"/>
              <a:t>缺陷模板（</a:t>
            </a:r>
            <a:r>
              <a:rPr lang="en-US" altLang="zh-CN" sz="2400"/>
              <a:t>DefectTemplate</a:t>
            </a:r>
            <a:r>
              <a:rPr lang="zh-CN" altLang="en-US" sz="2400"/>
              <a:t>）</a:t>
            </a:r>
            <a:endParaRPr lang="zh-CN" altLang="en-US" sz="2400"/>
          </a:p>
          <a:p>
            <a:pPr marL="457200" lvl="1" indent="0">
              <a:buNone/>
            </a:pPr>
            <a:r>
              <a:rPr lang="zh-CN" altLang="en-US" sz="2400">
                <a:sym typeface="+mn-ea"/>
              </a:rPr>
              <a:t>实验</a:t>
            </a:r>
            <a:r>
              <a:rPr lang="en-US" altLang="zh-CN" sz="2400">
                <a:sym typeface="+mn-ea"/>
              </a:rPr>
              <a:t>4.1</a:t>
            </a:r>
            <a:r>
              <a:rPr lang="zh-CN" altLang="en-US" sz="2400">
                <a:sym typeface="+mn-ea"/>
              </a:rPr>
              <a:t>的结果，从事故报告中提取出的结构化的缺陷</a:t>
            </a:r>
            <a:r>
              <a:rPr lang="zh-CN" altLang="en-US" sz="2400">
                <a:sym typeface="+mn-ea"/>
              </a:rPr>
              <a:t>知识</a:t>
            </a:r>
            <a:endParaRPr lang="zh-CN" altLang="en-US" sz="2400">
              <a:sym typeface="+mn-ea"/>
            </a:endParaRPr>
          </a:p>
          <a:p>
            <a:pPr marL="457200" lvl="1" indent="0">
              <a:buNone/>
            </a:pPr>
            <a:endParaRPr lang="zh-CN" altLang="en-US" sz="2400">
              <a:sym typeface="+mn-ea"/>
            </a:endParaRPr>
          </a:p>
          <a:p>
            <a:pPr marL="457200" lvl="1" indent="0">
              <a:buNone/>
            </a:pPr>
            <a:r>
              <a:rPr lang="zh-CN" altLang="en-US" sz="2400">
                <a:sym typeface="+mn-ea"/>
              </a:rPr>
              <a:t>混沌工程平台接收缺陷模板，尝试将其映射到待测系统，检测待测系统是否有该类</a:t>
            </a:r>
            <a:r>
              <a:rPr lang="zh-CN" altLang="en-US" sz="2400">
                <a:sym typeface="+mn-ea"/>
              </a:rPr>
              <a:t>缺陷</a:t>
            </a:r>
            <a:endParaRPr lang="zh-CN" altLang="en-US" sz="240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3941445"/>
            <a:ext cx="7219950" cy="25336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项目</a:t>
            </a:r>
            <a:r>
              <a:rPr lang="zh-CN" altLang="en-US"/>
              <a:t>概况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0" y="1572895"/>
            <a:ext cx="11014075" cy="19069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>
                <a:sym typeface="+mn-ea"/>
              </a:rPr>
              <a:t>实验</a:t>
            </a:r>
            <a:r>
              <a:rPr lang="zh-CN" altLang="en-US" sz="2800" b="1">
                <a:sym typeface="+mn-ea"/>
              </a:rPr>
              <a:t>要求总结：</a:t>
            </a:r>
            <a:endParaRPr lang="zh-CN" altLang="en-US" sz="2800"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zh-CN" altLang="en-US"/>
          </a:p>
          <a:p>
            <a:pPr lvl="1" indent="0">
              <a:buFont typeface="Arial" panose="020B0604020202020204" pitchFamily="34" charset="0"/>
              <a:buNone/>
            </a:pPr>
            <a:r>
              <a:rPr lang="zh-CN" altLang="en-US" sz="2400" b="1">
                <a:sym typeface="+mn-ea"/>
              </a:rPr>
              <a:t>混沌工程系统</a:t>
            </a:r>
            <a:r>
              <a:rPr lang="zh-CN" altLang="en-US" sz="2400">
                <a:sym typeface="+mn-ea"/>
              </a:rPr>
              <a:t>生成</a:t>
            </a:r>
            <a:r>
              <a:rPr lang="zh-CN" altLang="en-US" sz="2400" b="1">
                <a:sym typeface="+mn-ea"/>
              </a:rPr>
              <a:t>待测系统</a:t>
            </a:r>
            <a:r>
              <a:rPr lang="zh-CN" altLang="en-US" sz="2400">
                <a:sym typeface="+mn-ea"/>
              </a:rPr>
              <a:t>的</a:t>
            </a:r>
            <a:r>
              <a:rPr lang="zh-CN" altLang="en-US" sz="2400" b="1">
                <a:sym typeface="+mn-ea"/>
              </a:rPr>
              <a:t>系统画像</a:t>
            </a:r>
            <a:r>
              <a:rPr lang="zh-CN" altLang="en-US" sz="2400">
                <a:sym typeface="+mn-ea"/>
              </a:rPr>
              <a:t>，与</a:t>
            </a:r>
            <a:r>
              <a:rPr lang="zh-CN" altLang="en-US" sz="2400" b="1">
                <a:sym typeface="+mn-ea"/>
              </a:rPr>
              <a:t>缺陷模板</a:t>
            </a:r>
            <a:r>
              <a:rPr lang="zh-CN" altLang="en-US" sz="2400">
                <a:sym typeface="+mn-ea"/>
              </a:rPr>
              <a:t>进行映射，跟据映射结果构造缺陷注入</a:t>
            </a:r>
            <a:r>
              <a:rPr lang="zh-CN" altLang="en-US" sz="2400" b="1">
                <a:sym typeface="+mn-ea"/>
              </a:rPr>
              <a:t>实验配置</a:t>
            </a:r>
            <a:r>
              <a:rPr lang="zh-CN" altLang="en-US" sz="2400">
                <a:sym typeface="+mn-ea"/>
              </a:rPr>
              <a:t>，进行实验，分析</a:t>
            </a:r>
            <a:r>
              <a:rPr lang="zh-CN" altLang="en-US" sz="2400" b="1">
                <a:sym typeface="+mn-ea"/>
              </a:rPr>
              <a:t>实验结果</a:t>
            </a:r>
            <a:r>
              <a:rPr lang="zh-CN" altLang="en-US" sz="2400">
                <a:sym typeface="+mn-ea"/>
              </a:rPr>
              <a:t>，判断缺陷是否存在以及</a:t>
            </a:r>
            <a:r>
              <a:rPr lang="zh-CN" altLang="en-US" sz="2400">
                <a:sym typeface="+mn-ea"/>
              </a:rPr>
              <a:t>区分缺陷存在、未被触发和已被修复等不同情况。</a:t>
            </a:r>
            <a:endParaRPr lang="zh-CN" altLang="en-US" sz="2400"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实验</a:t>
            </a:r>
            <a:r>
              <a:rPr lang="zh-CN" altLang="en-US"/>
              <a:t>目标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0" y="1572895"/>
            <a:ext cx="11014075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400" b="1">
                <a:sym typeface="+mn-ea"/>
              </a:rPr>
              <a:t>基础目标：</a:t>
            </a:r>
            <a:endParaRPr lang="zh-CN" altLang="en-US" sz="2400"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zh-CN" altLang="en-US" sz="2400">
              <a:sym typeface="+mn-ea"/>
            </a:endParaRPr>
          </a:p>
          <a:p>
            <a:pPr lvl="1" indent="0">
              <a:buFont typeface="Arial" panose="020B0604020202020204" pitchFamily="34" charset="0"/>
              <a:buNone/>
            </a:pPr>
            <a:r>
              <a:rPr lang="zh-CN" altLang="en-US" sz="2400">
                <a:sym typeface="+mn-ea"/>
              </a:rPr>
              <a:t>给定一条"缺陷模板"，自动判断待测系统里是否存在对应的缺陷。</a:t>
            </a:r>
            <a:endParaRPr lang="zh-CN" altLang="en-US" sz="2400">
              <a:sym typeface="+mn-ea"/>
            </a:endParaRPr>
          </a:p>
          <a:p>
            <a:pPr lvl="1" indent="0">
              <a:buFont typeface="Arial" panose="020B0604020202020204" pitchFamily="34" charset="0"/>
              <a:buNone/>
            </a:pPr>
            <a:r>
              <a:rPr lang="zh-CN" altLang="en-US" sz="2400">
                <a:sym typeface="+mn-ea"/>
              </a:rPr>
              <a:t>画像 → 匹配 → 生成故障实验 → 执行 → 得出"发生故障 / 不发生</a:t>
            </a:r>
            <a:r>
              <a:rPr lang="zh-CN" altLang="en-US" sz="2400">
                <a:sym typeface="+mn-ea"/>
              </a:rPr>
              <a:t>故障 "的结论。</a:t>
            </a:r>
            <a:endParaRPr lang="zh-CN" altLang="en-US" sz="2400">
              <a:sym typeface="+mn-ea"/>
            </a:endParaRPr>
          </a:p>
          <a:p>
            <a:pPr lvl="1" indent="0">
              <a:buFont typeface="Arial" panose="020B0604020202020204" pitchFamily="34" charset="0"/>
              <a:buNone/>
            </a:pPr>
            <a:r>
              <a:rPr lang="zh-CN" altLang="en-US" sz="2400" b="1">
                <a:sym typeface="+mn-ea"/>
              </a:rPr>
              <a:t>难点：</a:t>
            </a:r>
            <a:r>
              <a:rPr lang="zh-CN" altLang="en-US" sz="2400">
                <a:sym typeface="+mn-ea"/>
              </a:rPr>
              <a:t>跨系统和技术栈建立</a:t>
            </a:r>
            <a:r>
              <a:rPr lang="zh-CN" altLang="en-US" sz="2400">
                <a:sym typeface="+mn-ea"/>
              </a:rPr>
              <a:t>映射关系</a:t>
            </a:r>
            <a:endParaRPr lang="zh-CN" altLang="en-US" sz="2400">
              <a:sym typeface="+mn-ea"/>
            </a:endParaRPr>
          </a:p>
          <a:p>
            <a:pPr lvl="1" indent="0">
              <a:buFont typeface="Arial" panose="020B0604020202020204" pitchFamily="34" charset="0"/>
              <a:buNone/>
            </a:pPr>
            <a:endParaRPr lang="zh-CN" altLang="en-US" sz="2400"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400" b="1">
                <a:sym typeface="+mn-ea"/>
              </a:rPr>
              <a:t>进阶目标：</a:t>
            </a:r>
            <a:endParaRPr lang="zh-CN" altLang="en-US" sz="2400"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zh-CN" altLang="en-US" sz="2400">
              <a:sym typeface="+mn-ea"/>
            </a:endParaRPr>
          </a:p>
          <a:p>
            <a:pPr indent="457200">
              <a:buFont typeface="Arial" panose="020B0604020202020204" pitchFamily="34" charset="0"/>
              <a:buNone/>
            </a:pPr>
            <a:r>
              <a:rPr lang="zh-CN" altLang="en-US" sz="2400">
                <a:sym typeface="+mn-ea"/>
              </a:rPr>
              <a:t>进一步区分：这个缺陷是"根本不存在（或已被修复）"，还是"存在但未被触发"。</a:t>
            </a:r>
            <a:endParaRPr lang="zh-CN" altLang="en-US" sz="2400">
              <a:sym typeface="+mn-ea"/>
            </a:endParaRPr>
          </a:p>
          <a:p>
            <a:pPr indent="457200" algn="l"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>
                <a:sym typeface="+mn-ea"/>
              </a:rPr>
              <a:t>难点：</a:t>
            </a:r>
            <a:r>
              <a:rPr lang="zh-CN" altLang="en-US" sz="2400">
                <a:sym typeface="+mn-ea"/>
              </a:rPr>
              <a:t>如何表达无法判断、执行器不支持或证据不足等非确定性结果</a:t>
            </a:r>
            <a:endParaRPr lang="zh-CN" altLang="en-US" sz="2400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待确认</a:t>
            </a:r>
            <a:r>
              <a:rPr lang="zh-CN" altLang="en-US"/>
              <a:t>事项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缺陷模板该如何获得</a:t>
            </a:r>
            <a:endParaRPr lang="zh-CN" altLang="en-US"/>
          </a:p>
          <a:p>
            <a:r>
              <a:rPr lang="zh-CN" altLang="en-US"/>
              <a:t>实现可独立部署的服务该如何</a:t>
            </a:r>
            <a:r>
              <a:rPr lang="zh-CN" altLang="en-US"/>
              <a:t>界定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“</a:t>
            </a:r>
            <a:r>
              <a:rPr lang="zh-CN" altLang="en-US"/>
              <a:t>包含修改前后对照的实验</a:t>
            </a:r>
            <a:r>
              <a:rPr lang="en-US" altLang="zh-CN"/>
              <a:t>”</a:t>
            </a:r>
            <a:r>
              <a:rPr lang="zh-CN" altLang="en-US"/>
              <a:t>该如何理解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863215"/>
            <a:ext cx="7086600" cy="9906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420" y="4528185"/>
            <a:ext cx="7150100" cy="60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1020</Words>
  <Application>WPS 演示</Application>
  <PresentationFormat>宽屏</PresentationFormat>
  <Paragraphs>78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Calibri</vt:lpstr>
      <vt:lpstr>Arial Unicode MS</vt:lpstr>
      <vt:lpstr>-apple-system</vt:lpstr>
      <vt:lpstr>sf mono</vt:lpstr>
      <vt:lpstr>Segoe Print</vt:lpstr>
      <vt:lpstr>WPS</vt:lpstr>
      <vt:lpstr>面向对象期中汇报 混沌工程——基于异构系统的缺陷迁移</vt:lpstr>
      <vt:lpstr>PowerPoint 演示文稿</vt:lpstr>
      <vt:lpstr>需求分析</vt:lpstr>
      <vt:lpstr>项目概况</vt:lpstr>
      <vt:lpstr>项目概况</vt:lpstr>
      <vt:lpstr>项目概况</vt:lpstr>
      <vt:lpstr>项目概况</vt:lpstr>
      <vt:lpstr>项目概况</vt:lpstr>
      <vt:lpstr>项目概况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赫</cp:lastModifiedBy>
  <cp:revision>7</cp:revision>
  <dcterms:created xsi:type="dcterms:W3CDTF">2023-08-09T12:44:00Z</dcterms:created>
  <dcterms:modified xsi:type="dcterms:W3CDTF">2026-10-23T07:03:45Z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C2D419BEC3C143A7B28C8406936C61E6_12</vt:lpwstr>
  </property>
</Properties>
</file>